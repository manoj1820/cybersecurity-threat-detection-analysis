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Events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ln w="19050" cap="flat">
                <a:solidFill>
                  <a:srgbClr val="16294A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ln w="19050" cap="flat">
                <a:solidFill>
                  <a:srgbClr val="16294A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Non-Threat</c:v>
                </c:pt>
                <c:pt idx="1">
                  <c:v>Threat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4370</c:v>
                </c:pt>
                <c:pt idx="1">
                  <c:v>830</c:v>
                </c:pt>
              </c:numCache>
            </c:numRef>
          </c:val>
        </c:ser>
        <c:firstSliceAng val="0"/>
        <c:holeSize val="52"/>
      </c:doughnutChart>
      <c:spPr>
        <a:solidFill>
          <a:srgbClr val="16294A"/>
        </a:solidFill>
        <a:ln w="12700" cap="flat">
          <a:solidFill>
            <a:srgbClr val="16294A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6EDF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6294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 events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E6ED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SQL Injection</c:v>
                  </c:pt>
                  <c:pt idx="1">
                    <c:v>Insider Threat</c:v>
                  </c:pt>
                  <c:pt idx="2">
                    <c:v>Phishing</c:v>
                  </c:pt>
                  <c:pt idx="3">
                    <c:v>Brute Force</c:v>
                  </c:pt>
                  <c:pt idx="4">
                    <c:v>Malware</c:v>
                  </c:pt>
                  <c:pt idx="5">
                    <c:v>DDoS</c:v>
                  </c:pt>
                  <c:pt idx="6">
                    <c:v>Ransomware</c:v>
                  </c:pt>
                  <c:pt idx="7">
                    <c:v>Man-in-the-Middle</c:v>
                  </c:pt>
                  <c:pt idx="8">
                    <c:v>Port Scanning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87</c:v>
                </c:pt>
                <c:pt idx="1">
                  <c:v>89</c:v>
                </c:pt>
                <c:pt idx="2">
                  <c:v>89</c:v>
                </c:pt>
                <c:pt idx="3">
                  <c:v>90</c:v>
                </c:pt>
                <c:pt idx="4">
                  <c:v>91</c:v>
                </c:pt>
                <c:pt idx="5">
                  <c:v>93</c:v>
                </c:pt>
                <c:pt idx="6">
                  <c:v>94</c:v>
                </c:pt>
                <c:pt idx="7">
                  <c:v>96</c:v>
                </c:pt>
                <c:pt idx="8">
                  <c:v>101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E6ED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9C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9C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94A"/>
        </a:solidFill>
        <a:ln w="12700" cap="flat">
          <a:solidFill>
            <a:srgbClr val="16294A"/>
          </a:solidFill>
        </a:ln>
        <a:effectLst/>
      </c:spPr>
    </c:plotArea>
    <c:plotVisOnly val="1"/>
    <c:dispBlanksAs val="span"/>
  </c:chart>
  <c:spPr>
    <a:solidFill>
      <a:srgbClr val="16294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Non-Threat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E6EDF7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4370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Threat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E6EDF7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114</c:v>
                </c:pt>
                <c:pt idx="1">
                  <c:v>302</c:v>
                </c:pt>
                <c:pt idx="2">
                  <c:v>317</c:v>
                </c:pt>
                <c:pt idx="3">
                  <c:v>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E6EDF7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9C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439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9C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94A"/>
        </a:solidFill>
        <a:ln w="12700" cap="flat">
          <a:solidFill>
            <a:srgbClr val="16294A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E6EDF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6294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 events (%)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E6ED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Malware
Detected</c:v>
                  </c:pt>
                  <c:pt idx="1">
                    <c:v>Suspicious
URL</c:v>
                  </c:pt>
                  <c:pt idx="2">
                    <c:v>Unusual
Port</c:v>
                  </c:pt>
                  <c:pt idx="3">
                    <c:v>Multiple Failed
Logins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56.27</c:v>
                </c:pt>
                <c:pt idx="1">
                  <c:v>49.52</c:v>
                </c:pt>
                <c:pt idx="2">
                  <c:v>56.14</c:v>
                </c:pt>
                <c:pt idx="3">
                  <c:v>51.69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Non-threat events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E6ED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Malware
Detected</c:v>
                  </c:pt>
                  <c:pt idx="1">
                    <c:v>Suspicious
URL</c:v>
                  </c:pt>
                  <c:pt idx="2">
                    <c:v>Unusual
Port</c:v>
                  </c:pt>
                  <c:pt idx="3">
                    <c:v>Multiple Failed
Logins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1.69</c:v>
                </c:pt>
                <c:pt idx="1">
                  <c:v>2.91</c:v>
                </c:pt>
                <c:pt idx="2">
                  <c:v>0</c:v>
                </c:pt>
                <c:pt idx="3">
                  <c:v>0.32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E6ED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9C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9525" cap="flat">
              <a:solidFill>
                <a:srgbClr val="2439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9C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94A"/>
        </a:solidFill>
        <a:ln w="12700" cap="flat">
          <a:solidFill>
            <a:srgbClr val="16294A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E6EDF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6294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Non-Threat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E6ED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Login
Attempts</c:v>
                  </c:pt>
                  <c:pt idx="1">
                    <c:v>Failed Login
Count</c:v>
                  </c:pt>
                  <c:pt idx="2">
                    <c:v>Successful Login
Count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1.73</c:v>
                </c:pt>
                <c:pt idx="1">
                  <c:v>0.98</c:v>
                </c:pt>
                <c:pt idx="2">
                  <c:v>0.75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Threat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E6ED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Login
Attempts</c:v>
                  </c:pt>
                  <c:pt idx="1">
                    <c:v>Failed Login
Count</c:v>
                  </c:pt>
                  <c:pt idx="2">
                    <c:v>Successful Login
Count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5.51</c:v>
                </c:pt>
                <c:pt idx="1">
                  <c:v>5.02</c:v>
                </c:pt>
                <c:pt idx="2">
                  <c:v>0.49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000" u="none">
                  <a:solidFill>
                    <a:srgbClr val="E6ED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9C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</c:scaling>
        <c:delete val="0"/>
        <c:axPos val="l"/>
        <c:majorGridlines>
          <c:spPr>
            <a:ln w="9525" cap="flat">
              <a:solidFill>
                <a:srgbClr val="2439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9C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94A"/>
        </a:solidFill>
        <a:ln w="12700" cap="flat">
          <a:solidFill>
            <a:srgbClr val="16294A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E6EDF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629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This is an end-to-end Python data analysis of 5,200 network security events, finding that about 16% are real threats and building rules to prioritise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project turns a noisy 5,200-event log into a prioritised queue. 84% of the log is noise; the goal is to find the 16% that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objectives map directly to the sections of the analysis. Each one is answered with a number later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55 duplicate events were removed, which is why the analysed total is 5,200 rather than 5,255.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One-liner for interviews: Pandas is for anything shaped like a table; NumPy is for the numbers underneath it; Seaborn and Matplotlib turn the result into a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detail to mention: the Protocol column had 16 spellings such as HTTP, http and Http. Standardising case reduced it to the correct 8 protocols.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"data judgement" story in the project: 84% missing looked alarming but was structural. Explain why you checked it against Is_Threat before touching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six observations is expanded on a later slide. Use this as the map of the findings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 of the whole project: 830 threats out of 5,200 events, about 15.96%.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 Scanning is the most common threat type at 101 events, but the spread from 101 down to 87 is narrow — attack activity is broad rather than one campaign.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Severity is a high-precision but incomplete filter: perfect when it fires above Low, but it misses 114 threats rated 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nuance for interviews: precision and coverage are different. Unusual Port is 100% precise but only catches 56% of threats, so rules must be layered.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actionable slide. Risk Score correlates with threat status at 0.907 and a simple threshold of 70 gives a perfectly precise, high-coverage alert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way to explain it: many attempts, many failures, few successes, short sessions. That is the opposite of a legitimate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also produced count plots for threat type, attack type, attack vector and severity — these four were selected because they drove the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only remember six numbers from this project, remember these. Each one is defensible and computed directly from the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scope: this is descriptive analysis. Saying so shows you understand the limits of your own work, which interviewers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Clearly label the right column as future work you have not done. Claiming unbuilt features is the fastest way to lose credibility in an interview.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123055">
              <a:alpha val="45000"/>
            </a:srgbClr>
          </a:solidFill>
          <a:ln w="12700">
            <a:solidFill>
              <a:srgbClr val="12305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65760"/>
            <a:ext cx="3108960" cy="3108960"/>
          </a:xfrm>
          <a:prstGeom prst="ellipse">
            <a:avLst/>
          </a:prstGeom>
          <a:solidFill>
            <a:srgbClr val="0E6E80">
              <a:alpha val="35000"/>
            </a:srgbClr>
          </a:solidFill>
          <a:ln w="12700">
            <a:solidFill>
              <a:srgbClr val="0E6E80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·  INFORMATION SECURITY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Threat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&amp; Analysis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Python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49808" y="4343400"/>
            <a:ext cx="1005840" cy="3200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9377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5,200 network security events  ·  January – March 2025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532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5,200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943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5532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5943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5532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5943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5532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15.96%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5943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Rate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Python analysis of a network security event log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9584" cy="3703320"/>
          </a:xfrm>
          <a:prstGeom prst="roundRect">
            <a:avLst>
              <a:gd name="adj" fmla="val 1554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7452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420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Is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0175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analysis of a security event log containing 5,200 network events and 42 features, covering network traffic, login activity, security controls, threat labels and risk scores.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1600200"/>
            <a:ext cx="3529584" cy="3703320"/>
          </a:xfrm>
          <a:prstGeom prst="roundRect">
            <a:avLst>
              <a:gd name="adj" fmla="val 1554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874520"/>
            <a:ext cx="502920" cy="5029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5420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Security Problem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0175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log far more events than they can investigate. Here only 830 of 5,200 events are real threats — roughly 84% of the alert queue is noise that still has to be reviewed.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1600200"/>
            <a:ext cx="3529584" cy="3703320"/>
          </a:xfrm>
          <a:prstGeom prst="roundRect">
            <a:avLst>
              <a:gd name="adj" fmla="val 1554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874520"/>
            <a:ext cx="502920" cy="5029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3932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25420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Objective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30175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Python to separate real threats from normal traffic, identify which indicators are genuinely reliable, and produce a rule that tells an analyst which events to open first.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outcome:  a Risk Score above 70 isolates 625 events — and all 625 are confirmed threats.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Detection &amp; Analysis  |  Project 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 the analysis was designed to answer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9584" cy="1737360"/>
          </a:xfrm>
          <a:prstGeom prst="roundRect">
            <a:avLst>
              <a:gd name="adj" fmla="val 315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56232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379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Cybersecurity Threats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4048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many events are genuine threats and how they differ from normal traffic.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600200"/>
            <a:ext cx="3529584" cy="1737360"/>
          </a:xfrm>
          <a:prstGeom prst="roundRect">
            <a:avLst>
              <a:gd name="adj" fmla="val 315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856232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93208" y="18379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Attack Patterns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4048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threats down by threat type, attack type and attack vector to see where attacks come from.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1600200"/>
            <a:ext cx="3529584" cy="1737360"/>
          </a:xfrm>
          <a:prstGeom prst="roundRect">
            <a:avLst>
              <a:gd name="adj" fmla="val 315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856232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39328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60536" y="18379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Suspicious Indicators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24048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malware flags, suspicious URLs, unusual ports and failed logins for reliability.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529584" cy="1737360"/>
          </a:xfrm>
          <a:prstGeom prst="roundRect">
            <a:avLst>
              <a:gd name="adj" fmla="val 315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822192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8039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Risk &amp; Anomaly Scores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37083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NumPy statistics to compare score behaviour across threat and non-threat events.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15968" y="3566160"/>
            <a:ext cx="3529584" cy="1737360"/>
          </a:xfrm>
          <a:prstGeom prst="roundRect">
            <a:avLst>
              <a:gd name="adj" fmla="val 315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822192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093208" y="38039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Threat Severity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37083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how severity levels map to real threats and what should be escalated first.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83296" y="3566160"/>
            <a:ext cx="3529584" cy="1737360"/>
          </a:xfrm>
          <a:prstGeom prst="roundRect">
            <a:avLst>
              <a:gd name="adj" fmla="val 315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9328" y="3822192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39328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860536" y="38039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High-Risk Events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39328" y="437083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score threshold that isolates the events an analyst must review immediately.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Detection &amp; Analysis  |  Project Objectives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cybersecurity_threat_dataset.csv  ·  network security event log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029200" cy="1371600"/>
          </a:xfrm>
          <a:prstGeom prst="roundRect">
            <a:avLst>
              <a:gd name="adj" fmla="val 4000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140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records after duplicate removal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737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24140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/ 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18211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Network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31821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Event_ID, Timestamp, Source_IP, Destination_IP, Protocol, Packet_Count, Bytes_Sent / Received, Connection_Duration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0390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Access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380390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Login_Attempts, Failed_Login_Count, Successful_Login_Count, Session_Duration, Authentication_Method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48640" y="4370832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42569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442569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Malware_Detected, Firewall_Status, Antivirus_Status, Encryption_Used, Suspicious_URL, Unusual_Port, Multiple_Failed_Logins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48640" y="4992624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50474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Fields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286000" y="50474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Threat_Type, Attack_Type, Attack_Vector, Severity, Threat_Status, Detection_Method, Is_Threat, Is_Malicious, Incident_Status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48640" y="5614416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5669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Anomaly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5669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 (0–100), Anomaly_Score (0–100)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852160" y="1572768"/>
            <a:ext cx="5760720" cy="4315968"/>
          </a:xfrm>
          <a:prstGeom prst="roundRect">
            <a:avLst>
              <a:gd name="adj" fmla="val 1271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26480" y="17556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240280"/>
          <a:ext cx="52120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rows loaded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events removed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records analysed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 with missing 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period covered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Jan – 31 Mar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Is_Threat (1 / 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Non-threat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Detection &amp; Analysis  |  Dataset Overview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data-analysis stack and the role each library played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28216"/>
            <a:ext cx="1737360" cy="493776"/>
          </a:xfrm>
          <a:prstGeom prst="roundRect">
            <a:avLst>
              <a:gd name="adj" fmla="val 11111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2821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16916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entire workflow — loading, cleaning, analysing and visualising the security log in one environment.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60904"/>
            <a:ext cx="1737360" cy="493776"/>
          </a:xfrm>
          <a:prstGeom prst="roundRect">
            <a:avLst>
              <a:gd name="adj" fmla="val 11111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6090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62432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operations: read_csv, isnull().sum(), drop_duplicates(), groupby().transform(), value_counts() and crosstab() for every distribution.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93592"/>
            <a:ext cx="1737360" cy="493776"/>
          </a:xfrm>
          <a:prstGeom prst="roundRect">
            <a:avLst>
              <a:gd name="adj" fmla="val 11111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59359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3557016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work: np.mean, np.median, np.std, np.percentile and np.corrcoef, plus boolean array filtering to isolate high-risk events.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70832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526280"/>
            <a:ext cx="1737360" cy="493776"/>
          </a:xfrm>
          <a:prstGeom prst="roundRect">
            <a:avLst>
              <a:gd name="adj" fmla="val 11111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52628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4489704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plotting engine — figure sizing, titles, axis labels and layout for all charts in the project.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0352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458968"/>
            <a:ext cx="1737360" cy="493776"/>
          </a:xfrm>
          <a:prstGeom prst="roundRect">
            <a:avLst>
              <a:gd name="adj" fmla="val 11111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45896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0" y="542239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charts in one line each: count plots, box plots, histograms, scatter plots and the correlation heatmap.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Detection &amp; Analysis  |  Technologies Used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Process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sequential steps from raw file to analysis-ready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29968" cy="2377440"/>
          </a:xfrm>
          <a:prstGeom prst="roundRect">
            <a:avLst>
              <a:gd name="adj" fmla="val 2703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5024" y="2029968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35024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6517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364992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info(), dtypes,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596896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52928" y="1828800"/>
            <a:ext cx="2029968" cy="2377440"/>
          </a:xfrm>
          <a:prstGeom prst="roundRect">
            <a:avLst>
              <a:gd name="adj" fmla="val 2703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9312" y="2029968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39312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62656" y="26517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962656" y="3364992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columns with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found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01184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57216" y="1828800"/>
            <a:ext cx="2029968" cy="2377440"/>
          </a:xfrm>
          <a:prstGeom prst="roundRect">
            <a:avLst>
              <a:gd name="adj" fmla="val 2703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2029968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66944" y="26517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266944" y="3364992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fills +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group-wise median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61504" y="1828800"/>
            <a:ext cx="2029968" cy="2377440"/>
          </a:xfrm>
          <a:prstGeom prst="roundRect">
            <a:avLst>
              <a:gd name="adj" fmla="val 2703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47888" y="2029968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4788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71232" y="26517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Removal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571232" y="3364992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duplicate events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509760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765792" y="1828800"/>
            <a:ext cx="2029968" cy="2377440"/>
          </a:xfrm>
          <a:prstGeom prst="roundRect">
            <a:avLst>
              <a:gd name="adj" fmla="val 2703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52176" y="2029968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52176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0" y="26517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&amp; Consistency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875520" y="3364992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parsed,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standardised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of cleaning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291840" y="464515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3A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5,255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3291840" y="50749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681728" y="464515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4681728" y="50749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071616" y="464515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5,200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6071616" y="50749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461504" y="464515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900" dirty="0"/>
          </a:p>
        </p:txBody>
      </p:sp>
      <p:sp>
        <p:nvSpPr>
          <p:cNvPr id="42" name="Text 40"/>
          <p:cNvSpPr txBox="1"/>
          <p:nvPr/>
        </p:nvSpPr>
        <p:spPr>
          <a:xfrm>
            <a:off x="7461504" y="50749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spellings found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8851392" y="464515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900" dirty="0"/>
          </a:p>
        </p:txBody>
      </p:sp>
      <p:sp>
        <p:nvSpPr>
          <p:cNvPr id="44" name="Text 42"/>
          <p:cNvSpPr txBox="1"/>
          <p:nvPr/>
        </p:nvSpPr>
        <p:spPr>
          <a:xfrm>
            <a:off x="8851392" y="50749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standardising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0241280" y="464515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900" dirty="0"/>
          </a:p>
        </p:txBody>
      </p:sp>
      <p:sp>
        <p:nvSpPr>
          <p:cNvPr id="46" name="Text 44"/>
          <p:cNvSpPr txBox="1"/>
          <p:nvPr/>
        </p:nvSpPr>
        <p:spPr>
          <a:xfrm>
            <a:off x="10241280" y="50749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nulls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Detection &amp; Analysis  |  Data Cleaning Process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 Handling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types of missingness required different treatments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86400" cy="1920240"/>
          </a:xfrm>
          <a:prstGeom prst="roundRect">
            <a:avLst>
              <a:gd name="adj" fmla="val 2857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Missing Values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"None" —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Threat_Type, Attack_Type, Attack_Vector, Threat_Status. The event genuinely had no threat, so "None" is the correct value.</a:t>
            </a:r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"Unknown" — 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Authentication_Method, Antivirus_Status, Browser, Country. The data was simply not captured.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639312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7856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Missing Values — Group-Wise Median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1879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using the median of each column within its own Is_Threat group, because threat and non-threat traffic behave very differently: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736592"/>
          <a:ext cx="50292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63040"/>
                <a:gridCol w="14630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Non-Threat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Bytes_Received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5,993.00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A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20,823.00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Response_Time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A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Session_Duration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A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309360" y="1572768"/>
            <a:ext cx="5303520" cy="4215384"/>
          </a:xfrm>
          <a:prstGeom prst="roundRect">
            <a:avLst>
              <a:gd name="adj" fmla="val 1302"/>
            </a:avLst>
          </a:prstGeom>
          <a:solidFill>
            <a:srgbClr val="1E3559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threat fields were not dropped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22402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4,370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29169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blank Threat_Type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052560" y="22402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29169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events with blanks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3429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columns were blank in 84.04% of rows. Cross-checking against Is_Threat showed every one of those 4,370 rows is a non-threat event, and no threat event has a blank Threat_Type.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537960" y="4434840"/>
            <a:ext cx="4846320" cy="1115568"/>
          </a:xfrm>
          <a:prstGeom prst="roundRect">
            <a:avLst>
              <a:gd name="adj" fmla="val 4918"/>
            </a:avLst>
          </a:prstGeom>
          <a:solidFill>
            <a:srgbClr val="2A1F0E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748272" y="455371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values are missing because there was no threat to describe — not because of a data quality problem. Dropping these rows would have deleted the entire non-threat population.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Detection &amp; Analysis  |  Missing Value Handling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first pass through the cleaned data revealed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28800"/>
            <a:ext cx="45720" cy="7132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17556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1031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830 of 5,200 events are threats (15.96%). The dataset is heavily weighted toward normal traffic.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572768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1384" y="1828800"/>
            <a:ext cx="45720" cy="713232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02552" y="17556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 are evenly spread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02552" y="21031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threat types range from 101 down to 87 events — no single dominant attack campaign.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3273552"/>
            <a:ext cx="45720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" y="3200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is decisive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35478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4,370 non-threat events are Low severity. Every Medium, High and Critical event is a real threat.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01752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1384" y="3273552"/>
            <a:ext cx="45720" cy="7132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02552" y="3200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Scores are right-skewed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02552" y="35478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mean 27.67 vs median 20.07. Most events sit low, with a separate high-risk cluster.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62272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4718304"/>
            <a:ext cx="45720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7552" y="46451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Indicators are rare but sharp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499262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indicator fires on under 11% of events, yet fires far more often on threats.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462272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01384" y="4718304"/>
            <a:ext cx="45720" cy="713232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02552" y="46451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Redundant column found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02552" y="499262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Attack_Type is an exact copy of Threat_Type across all 5,200 rows.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Detection &amp; Analysis  |  Exploratory Data Analysis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Distribution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vs Non-Threat across all 5,200 analysed events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577840" cy="4160520"/>
          </a:xfrm>
          <a:prstGeom prst="roundRect">
            <a:avLst>
              <a:gd name="adj" fmla="val 1319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783080"/>
          <a:ext cx="52120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572768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7512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4,370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Non-Threat Events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84.04% of the log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0" y="2999232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0" y="316382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830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32552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Events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35753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15.96% of the log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0" y="4425696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75120" y="45902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5,200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0" y="4681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Events Analysed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5001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removing 55 duplicates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5833872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 in every 6 logged events is a genuine threat — the remaining 5 are noise an analyst still has to triage.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Detection &amp; Analysis  |  Threat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&amp; Threat Patterns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type, attack type and attack vector across the 830 threat events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6400800" cy="4160520"/>
          </a:xfrm>
          <a:prstGeom prst="roundRect">
            <a:avLst>
              <a:gd name="adj" fmla="val 1319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Type  /  Attack Type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Attack_Type is an exact duplicate of Threat_Type in all 5,200 rows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2304288"/>
          <a:ext cx="60350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223760" y="1572768"/>
            <a:ext cx="4389120" cy="4160520"/>
          </a:xfrm>
          <a:prstGeom prst="roundRect">
            <a:avLst>
              <a:gd name="adj" fmla="val 1319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52360" y="17190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Vector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threats entered the environment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52360" y="2651760"/>
            <a:ext cx="2834640" cy="6400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5236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78408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 (16.1%)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52360" y="3063240"/>
            <a:ext cx="2665408" cy="6400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5236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Desktop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78408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 (15.2%)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452360" y="3474720"/>
            <a:ext cx="2665408" cy="6400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5236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78408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 (15.2%)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452360" y="3886200"/>
            <a:ext cx="2369251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5236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78408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 (13.5%)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452360" y="4297680"/>
            <a:ext cx="2369251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5236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Device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78408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 (13.5%)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452360" y="4709160"/>
            <a:ext cx="2369251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5236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9784080" y="4434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 (13.5%)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452360" y="5120640"/>
            <a:ext cx="2284635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5236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9784080" y="4846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 (13.0%)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452360" y="52303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Application, Remote Desktop and Email together account for 386 threats — 46.5% of all threat events.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Detection &amp; Analysis  |  Attack &amp; Threat Patterns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Analysis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distribution and what it reveals about detection quality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6400800" cy="3657600"/>
          </a:xfrm>
          <a:prstGeom prst="roundRect">
            <a:avLst>
              <a:gd name="adj" fmla="val 1500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783080"/>
          <a:ext cx="60350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572768"/>
            <a:ext cx="4389120" cy="804672"/>
          </a:xfrm>
          <a:prstGeom prst="roundRect">
            <a:avLst>
              <a:gd name="adj" fmla="val 681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24928" y="1810512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82128" y="1709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882128" y="1993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threats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0058400" y="17739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7223760" y="2505456"/>
            <a:ext cx="4389120" cy="804672"/>
          </a:xfrm>
          <a:prstGeom prst="roundRect">
            <a:avLst>
              <a:gd name="adj" fmla="val 681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24928" y="2743200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82128" y="26426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882128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threats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0" y="27066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317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7223760" y="3438144"/>
            <a:ext cx="4389120" cy="804672"/>
          </a:xfrm>
          <a:prstGeom prst="roundRect">
            <a:avLst>
              <a:gd name="adj" fmla="val 681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24928" y="3675888"/>
            <a:ext cx="329184" cy="329184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82128" y="35753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882128" y="3858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threats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0058400" y="36393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302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7223760" y="4370832"/>
            <a:ext cx="4389120" cy="804672"/>
          </a:xfrm>
          <a:prstGeom prst="roundRect">
            <a:avLst>
              <a:gd name="adj" fmla="val 681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24928" y="4608576"/>
            <a:ext cx="329184" cy="3291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882128" y="4507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882128" y="4791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4,370 non-threat + 114 threat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0" y="4572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4,484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548640" y="5349240"/>
            <a:ext cx="6400800" cy="822960"/>
          </a:xfrm>
          <a:prstGeom prst="roundRect">
            <a:avLst>
              <a:gd name="adj" fmla="val 6667"/>
            </a:avLst>
          </a:prstGeom>
          <a:solidFill>
            <a:srgbClr val="2A101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544068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Medium, High and Critical event — all 716 of them — is a confirmed threat. Non-threat events are always Low severity. However, 114 real threats are also rated Low, so severity alone would miss 13.7% of them.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Detection &amp; Analysis  |  Severity Analysis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Indicators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each indicator fires on threat vs non-threat events (%)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6766560" cy="3657600"/>
          </a:xfrm>
          <a:prstGeom prst="roundRect">
            <a:avLst>
              <a:gd name="adj" fmla="val 1500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783080"/>
          <a:ext cx="64008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572768"/>
            <a:ext cx="4023360" cy="3657600"/>
          </a:xfrm>
          <a:prstGeom prst="roundRect">
            <a:avLst>
              <a:gd name="adj" fmla="val 1500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1719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when flagged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121408"/>
          <a:ext cx="3566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11887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Unusual 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Logins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A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Suspicious 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A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818120" y="3858768"/>
            <a:ext cx="3566160" cy="1207008"/>
          </a:xfrm>
          <a:prstGeom prst="roundRect">
            <a:avLst>
              <a:gd name="adj" fmla="val 4545"/>
            </a:avLst>
          </a:prstGeom>
          <a:solidFill>
            <a:srgbClr val="0E2A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028432" y="3986784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Port is a perfect indicator here: all 466 flagged events are threats and no non-threat event used one. It still catches only 56% of threats.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3492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works in reverse: 80.66% of non-threat events are encrypted, against only 34.22% of threat events — absence of encryption is itself a warning sign.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Detection &amp; Analysis  |  Security Indicators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Anomaly Analysis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statistics on the two scoring columns, and the high-risk threshold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577840" cy="2514600"/>
          </a:xfrm>
          <a:prstGeom prst="roundRect">
            <a:avLst>
              <a:gd name="adj" fmla="val 2182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vs Non-Threat Comparison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21408"/>
          <a:ext cx="5120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Non-Threat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 — 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 — maximum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Score — 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Score — maximum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3703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Risk Score: mean 27.67  ·  median 20.07  ·  std 24.61  ·  range 0 – 100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4279392"/>
            <a:ext cx="5577840" cy="1463040"/>
          </a:xfrm>
          <a:prstGeom prst="roundRect">
            <a:avLst>
              <a:gd name="adj" fmla="val 3750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389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Is_Threat  (np.corrcoef)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709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0.907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193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2532888" y="4709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0.863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2532888" y="5193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288536" y="4709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3A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0.786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4288536" y="5193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↔ Anomaly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00800" y="1572768"/>
            <a:ext cx="5212080" cy="4169664"/>
          </a:xfrm>
          <a:prstGeom prst="roundRect">
            <a:avLst>
              <a:gd name="adj" fmla="val 1316"/>
            </a:avLst>
          </a:prstGeom>
          <a:solidFill>
            <a:srgbClr val="1E3559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7512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Events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675120" y="2103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the cleaned dataset with NumPy boolean conditions:</a:t>
            </a:r>
            <a:endParaRPr lang="en-US" sz="11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450592"/>
          <a:ext cx="4663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371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5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 &gt; 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A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  (100%)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5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 &gt; 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A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388  (100%)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5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Score &gt; 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A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531  (100%)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5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3A9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&gt; 70 AND Anomaly &gt; 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A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  (100%)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5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6675120" y="4206240"/>
            <a:ext cx="4663440" cy="1371600"/>
          </a:xfrm>
          <a:prstGeom prst="roundRect">
            <a:avLst>
              <a:gd name="adj" fmla="val 4000"/>
            </a:avLst>
          </a:prstGeom>
          <a:solidFill>
            <a:srgbClr val="0E2A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85432" y="434340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above 70 isolates 625 events and every one is a genuine threat. That cuts the review queue by 88% while still covering 75.3% of all 830 threats.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Detection &amp; Analysis  |  Risk &amp; Anomaly Analysis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Behaviour Analysis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login activity compared across threat and non-threat events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6583680" cy="3611880"/>
          </a:xfrm>
          <a:prstGeom prst="roundRect">
            <a:avLst>
              <a:gd name="adj" fmla="val 1519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783080"/>
          <a:ext cx="6217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572768"/>
            <a:ext cx="4206240" cy="3611880"/>
          </a:xfrm>
          <a:prstGeom prst="roundRect">
            <a:avLst>
              <a:gd name="adj" fmla="val 1519"/>
            </a:avLst>
          </a:prstGeom>
          <a:solidFill>
            <a:srgbClr val="1E3559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35240" y="1719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Signature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35240" y="2203704"/>
            <a:ext cx="274320" cy="2743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28432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attempts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028432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5.51 vs 1.73 — 3.2× higher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35240" y="2916936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28432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failures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028432" y="3136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5.02 vs 0.98 — 5.1× higher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635240" y="3630168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28432" y="3575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successes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028432" y="38496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 vs 0.75 — lower despite trying more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635240" y="4343400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28432" y="4288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sessions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028432" y="45628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14.63 vs 25.78 — attackers do not stay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635240" y="4736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failed logins: 5 for threats, 1 for non-threats (maximum observed: 18).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3218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traffic behaviour:  threat events send 10.6× more bytes, make 7.6× more requests and transmit 5.5× more packets than normal events.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Detection &amp; Analysis  |  Login Behaviour Analysis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charts that carried the most analytical weight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pic>
        <p:nvPicPr>
          <p:cNvPr id="5" name="Image 0" descr="viz/risk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00200"/>
            <a:ext cx="3246120" cy="19385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041648" y="20208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Score Distribution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041648" y="261518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clearly separated clusters, split at the 70 threshold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63640" y="1517904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pic>
        <p:nvPicPr>
          <p:cNvPr id="9" name="Image 1" descr="viz/sca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600200"/>
            <a:ext cx="3246120" cy="19385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756648" y="20208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vs Anomaly Score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9756648" y="261518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events cluster in the top-right quadrant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48640" y="3785616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pic>
        <p:nvPicPr>
          <p:cNvPr id="13" name="Image 2" descr="viz/anom_d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867912"/>
            <a:ext cx="3246120" cy="19385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41648" y="42885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Score Distribution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4041648" y="488289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right-skewed shape, confirming the pattern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263640" y="3785616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pic>
        <p:nvPicPr>
          <p:cNvPr id="17" name="Image 3" descr="viz/heat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3867912"/>
            <a:ext cx="3246120" cy="19385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756648" y="42885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Indicator Heatmap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9756648" y="488289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firing rates by group, in percent</a:t>
            </a:r>
            <a:endParaRPr lang="en-US" sz="95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Detection &amp; Analysis  |  Data Visualizations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Cybersecurity Insights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findings that matter to a security team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9584" cy="1737360"/>
          </a:xfrm>
          <a:prstGeom prst="roundRect">
            <a:avLst>
              <a:gd name="adj" fmla="val 315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8013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15.96%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4963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logged events are genuine threats — 830 out of 5,200.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600200"/>
            <a:ext cx="3529584" cy="1737360"/>
          </a:xfrm>
          <a:prstGeom prst="roundRect">
            <a:avLst>
              <a:gd name="adj" fmla="val 315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8013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963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score above 70 on risk, and 100% of them are real threats.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83296" y="1600200"/>
            <a:ext cx="3529584" cy="1737360"/>
          </a:xfrm>
          <a:prstGeom prst="roundRect">
            <a:avLst>
              <a:gd name="adj" fmla="val 315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9328" y="18013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466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339328" y="24963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unusual-port events, all threats. Zero false positives on this indicator.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3529584" cy="1737360"/>
          </a:xfrm>
          <a:prstGeom prst="roundRect">
            <a:avLst>
              <a:gd name="adj" fmla="val 315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7673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716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4622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Medium, High and Critical events — every one is a confirmed threat.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15968" y="3566160"/>
            <a:ext cx="3529584" cy="1737360"/>
          </a:xfrm>
          <a:prstGeom prst="roundRect">
            <a:avLst>
              <a:gd name="adj" fmla="val 315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37673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134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4622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entered through Web Application, the largest single attack vector.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83296" y="3566160"/>
            <a:ext cx="3529584" cy="1737360"/>
          </a:xfrm>
          <a:prstGeom prst="roundRect">
            <a:avLst>
              <a:gd name="adj" fmla="val 3158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9328" y="37673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8339328" y="44622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are still Active, and 104 real threats were closed as False Positive.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events average a Risk Score of 78.87 against 17.95 for normal events — a 4.4× gap that makes prioritisation straightforward.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Detection &amp; Analysis  |  Key Cybersecurity Insights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analysis delivered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874520"/>
          </a:xfrm>
          <a:prstGeom prst="roundRect">
            <a:avLst>
              <a:gd name="adj" fmla="val 2927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56232"/>
            <a:ext cx="402336" cy="40233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5623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Achieved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86584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5,255-row log was cleaned to 5,200 analysis-ready records, fully profiled across 42 features, with every finding computed from the data rather than assumed.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40680" cy="1874520"/>
          </a:xfrm>
          <a:prstGeom prst="roundRect">
            <a:avLst>
              <a:gd name="adj" fmla="val 2927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856232"/>
            <a:ext cx="402336" cy="40233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85623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Helps Monitoring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386584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quantifies the threat landscape — 15.96% threat rate, nine threat types, seven attack vectors — and shows which indicators a detection rule can actually trust.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440680" cy="1874520"/>
          </a:xfrm>
          <a:prstGeom prst="roundRect">
            <a:avLst>
              <a:gd name="adj" fmla="val 2927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59352"/>
            <a:ext cx="402336" cy="40233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95935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Prioritising High-Risk Events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489704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&gt; 70 rule returns 625 events, all genuine threats, cutting the analyst queue by 88% while covering 75.3% of threats. Severity gives a second lane: 97 Critical events first.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703320"/>
            <a:ext cx="5440680" cy="1874520"/>
          </a:xfrm>
          <a:prstGeom prst="roundRect">
            <a:avLst>
              <a:gd name="adj" fmla="val 2927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3959352"/>
            <a:ext cx="402336" cy="40233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95935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Python Skills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489704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the full workflow — Pandas cleaning and aggregation, NumPy statistics, Seaborn and Matplotlib visualisation, and translating results into an operational recommendation.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is descriptive, not predictive — it profiles this three-month dataset and does not build a classifier.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Detection &amp; Analysis  |  Project Conclusion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Learnings &amp; 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taught me, and where it could go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40680" cy="4160520"/>
          </a:xfrm>
          <a:prstGeom prst="roundRect">
            <a:avLst>
              <a:gd name="adj" fmla="val 1319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55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24028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needs a reason, not a default. </a:t>
            </a:r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4,370 blanks were structural, not errors.</a:t>
            </a:r>
            <a:pPr indent="0" marL="0">
              <a:lnSpc>
                <a:spcPts val="1650"/>
              </a:lnSpc>
              <a:buNone/>
            </a:pP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Group-wise imputation beats a global median 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groups genuinely differ.</a:t>
            </a:r>
            <a:pPr indent="0" marL="0">
              <a:lnSpc>
                <a:spcPts val="1650"/>
              </a:lnSpc>
              <a:buNone/>
            </a:pP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checks catch what counts miss. 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had 16 spellings instead of 8.</a:t>
            </a:r>
            <a:pPr indent="0" marL="0">
              <a:lnSpc>
                <a:spcPts val="1650"/>
              </a:lnSpc>
              <a:buNone/>
            </a:pP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and coverage are different. 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Port is 100% precise but finds only 56% of threats.</a:t>
            </a:r>
            <a:pPr indent="0" marL="0">
              <a:lnSpc>
                <a:spcPts val="1650"/>
              </a:lnSpc>
              <a:buNone/>
            </a:pP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redundant columns. 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Attack_Type duplicated Threat_Type entirely.</a:t>
            </a:r>
            <a:pPr indent="0" marL="0">
              <a:lnSpc>
                <a:spcPts val="1650"/>
              </a:lnSpc>
              <a:buNone/>
            </a:pP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in the prioritisation, not the statistics. 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these 625 events" is actionable; a mean of 27.67 is not.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572768"/>
            <a:ext cx="5440680" cy="4160520"/>
          </a:xfrm>
          <a:prstGeom prst="roundRect">
            <a:avLst>
              <a:gd name="adj" fmla="val 1319"/>
            </a:avLst>
          </a:prstGeom>
          <a:solidFill>
            <a:srgbClr val="16294A"/>
          </a:solidFill>
          <a:ln w="9525">
            <a:solidFill>
              <a:srgbClr val="2B40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28232" y="1755648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28232" y="17556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8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17739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completed in this project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28232" y="2350008"/>
            <a:ext cx="256032" cy="256032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12280" y="2304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threat prediction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25694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classifier on these features and validate the Risk &gt; 70 threshold on unseen data.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28232" y="3026664"/>
            <a:ext cx="256032" cy="256032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12280" y="2980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32461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cleaning and scoring logic to a live event stream instead of a static CSV.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28232" y="3703320"/>
            <a:ext cx="256032" cy="256032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12280" y="3657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9227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alerts when Risk &gt; 70 or an unusual port is used, routed by severity.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28232" y="4379976"/>
            <a:ext cx="256032" cy="256032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2280" y="43342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45994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or Streamlit dashboard for threat rate, severity mix and open incidents.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28232" y="5056632"/>
            <a:ext cx="256032" cy="256032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50109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quality review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52760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104 real threats that were closed as False Positive.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Detection &amp; Analysis  |  Learnings &amp; Future Scope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2026-09-16T12:02:35Z</dcterms:created>
  <dcterms:modified xsi:type="dcterms:W3CDTF">2026-09-16T12:02:35Z</dcterms:modified>
</cp:coreProperties>
</file>